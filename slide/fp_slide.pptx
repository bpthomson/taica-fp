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60" r:id="rId8"/>
    <p:sldId id="298" r:id="rId9"/>
    <p:sldId id="297" r:id="rId10"/>
    <p:sldId id="261" r:id="rId11"/>
    <p:sldId id="262" r:id="rId12"/>
    <p:sldId id="259" r:id="rId13"/>
    <p:sldId id="263" r:id="rId14"/>
    <p:sldId id="273" r:id="rId15"/>
    <p:sldId id="274" r:id="rId16"/>
    <p:sldId id="277" r:id="rId17"/>
    <p:sldId id="278" r:id="rId18"/>
    <p:sldId id="289" r:id="rId19"/>
    <p:sldId id="290" r:id="rId20"/>
    <p:sldId id="29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28"/>
    <a:srgbClr val="CC9900"/>
    <a:srgbClr val="31302E"/>
    <a:srgbClr val="282C35"/>
    <a:srgbClr val="FFFFFF"/>
    <a:srgbClr val="00B0F0"/>
    <a:srgbClr val="1F1F1F"/>
    <a:srgbClr val="2F2F2F"/>
    <a:srgbClr val="CACAC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6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23977-ED84-4762-92C9-FB3B8324F97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F2834-0B63-4007-803C-7E8459316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0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87F122-D15E-67AB-08E4-26C5ABF7F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0EC2C7-B682-350E-DE6D-A85058939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0867CF-DAD9-FF54-587D-6911C394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B97A0A-1540-0367-DE8F-A1AB85F54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4BDB39-2AB9-B052-FAC8-F96B4095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54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97FF54-610D-68E0-CB2B-8C8F5EFDF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761269-40FA-F9D9-58D7-843C1BED1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834FE2-DDEF-3FF3-3220-2B7A1E586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4F6748-E52E-9246-BBDE-53D7569A1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59B052-702B-5A16-E704-F37D4DF3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33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55ED9-21C5-0E99-0EB7-9F67994B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529460-4F30-3EB7-23E9-7ABFB9F27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FADE03-EEF6-2B11-06A5-766D9A922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98FE4E-6015-8DC0-738C-CB25EC77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DAB489-2EFE-EB35-8F28-28CAE7E7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03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5EC5BC-91E1-1CEF-A7CE-75312FF26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66485F-0EB1-FE54-DF40-EFE1BADC7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761719-6EB4-1952-945C-F99AA766D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98205AD-942F-657A-D869-29E909E7F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714D5D-5568-B638-06EB-1229A198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01D752-B4E0-4715-8CB7-238A1353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35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5633FC-5262-DFF6-E224-D2740336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3EABBA-EDB4-9018-7B63-F5BC0556F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E56941-58D0-4332-3E1B-56A58F56A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7F19E8F-C2C0-142B-F62C-063BED1E0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01E8F48-C4D8-8371-A117-0CAB1AF76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64D5CFE-B5AD-C8C3-13E6-7FD68F2C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A7FBAE-43F8-6A8E-4023-B347D01FF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BF8CE50-5391-AA74-6576-A612C671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62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C5CC7B-8B4C-C370-05B2-539B05850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A7B3416-7202-D0F7-00CC-41403FBE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57EB407-3C40-73E6-2C35-1792684A4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B6C9644-02CE-B9A9-1AFF-1C640C64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04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6A133EB-44EB-FFDE-15C8-DA404896C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F9270E5-871B-E9D1-5F05-FCB196E69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797DB5-E6EE-2747-95B4-E81201906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44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F3E72-7016-78E4-A116-3AB85202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F25272-EC63-FFBA-3BD2-919803061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788CAA5-A28A-3DBC-72AB-FF672D313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53A366-BE47-786E-EEDE-2A5DC031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0908008-4E31-C650-611A-A19CEB4E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E4AD96-18CD-3496-078D-7975DCBC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51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28ED78-6C35-88B2-FEA2-8D2BFBDA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294F1C9-7B80-E4FE-6162-DA7F648CF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CEE3CCD-513F-3E35-909B-D44CDB3C2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8E1A97-23A6-7262-2EE3-D79C0424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089069-7E80-B584-97A4-C232ED95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113A1A-DD37-8A4F-16D5-C1174124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63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8A821B-EE98-506C-372F-1EF01CBA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012894-8511-6CB1-1499-31EDD72E3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94D115-78B4-4009-54BB-156431EA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A71EC7-D5F9-9E34-1534-B04F9A45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B85840-F0B5-78CA-4CB1-F9C96379C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14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301F11D-36B4-8EA6-D9AF-BD14719AB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BD64E8-223A-E3E3-6E1C-260D7BB77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09A964-63AC-1B2B-47DF-DEFA941F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10AA69-4BD8-BF87-5EBF-FF4D049D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C1E9FE-59FD-D497-A185-BC924DFE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5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B8A1E6-2D99-2978-F3A4-166FB91E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0526738-1E88-B9E2-2CF6-8CD429C34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5F98F0-7B6D-A9E0-73F9-21171194C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33EAA-0A63-42AC-B84E-873E1F25916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F86530-70ED-F81F-D0BE-266B05A2B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E17A86-ED0A-0989-BD3B-E6C532CFC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62947-8CA5-4B95-8CBE-2B55E77E5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9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.png"/><Relationship Id="rId2" Type="http://schemas.openxmlformats.org/officeDocument/2006/relationships/audio" Target="../media/media2.m4a"/><Relationship Id="rId16" Type="http://schemas.openxmlformats.org/officeDocument/2006/relationships/image" Target="../media/image14.svg"/><Relationship Id="rId1" Type="http://schemas.microsoft.com/office/2007/relationships/media" Target="../media/media2.m4a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6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9.sv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0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1.sv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0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2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3.sv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2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5.sv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4.png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7.sv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6.png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1.png"/><Relationship Id="rId5" Type="http://schemas.openxmlformats.org/officeDocument/2006/relationships/image" Target="../media/image32.gi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CEC887E-F78F-4FEB-41C0-C0C46BD3509B}"/>
              </a:ext>
            </a:extLst>
          </p:cNvPr>
          <p:cNvSpPr/>
          <p:nvPr/>
        </p:nvSpPr>
        <p:spPr>
          <a:xfrm>
            <a:off x="-1239520" y="1661374"/>
            <a:ext cx="12147925" cy="836377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7B74AF1-E55A-91F6-9C75-E84580C2C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zh-TW" sz="18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TAICA_</a:t>
            </a:r>
            <a:r>
              <a:rPr lang="zh-TW" altLang="en-US" sz="18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自然語言處理 </a:t>
            </a:r>
            <a:r>
              <a:rPr lang="en-US" altLang="zh-TW" sz="18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Final Project</a:t>
            </a: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5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WattBot</a:t>
            </a:r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2025</a:t>
            </a:r>
            <a:b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800" dirty="0"/>
              <a:t>Evidence-based energy estimation for AI workloads using retrieval augmented generation (RAG).</a:t>
            </a:r>
            <a:endParaRPr 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78C2CAD-CBCA-7689-CE2F-0C0C0B703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zh-TW" altLang="en-US" sz="16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楊勝皓 蔡宗澤 朱冠霖</a:t>
            </a:r>
            <a:endParaRPr lang="en-US" altLang="zh-TW" sz="16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組別 四大成人組</a:t>
            </a:r>
            <a:endParaRPr lang="en-US" altLang="zh-TW" sz="12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2025.12.04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C90D04A1-22D9-9524-5CE0-F798E80C54E8}"/>
              </a:ext>
            </a:extLst>
          </p:cNvPr>
          <p:cNvCxnSpPr>
            <a:cxnSpLocks/>
          </p:cNvCxnSpPr>
          <p:nvPr/>
        </p:nvCxnSpPr>
        <p:spPr>
          <a:xfrm>
            <a:off x="6990223" y="3509963"/>
            <a:ext cx="2854817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F19CAAE5-CF4D-D1F8-A969-52C108070B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9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0706">
        <p159:morph option="byWord"/>
      </p:transition>
    </mc:Choice>
    <mc:Fallback xmlns="">
      <p:transition spd="med" advTm="107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>
            <a:extLst>
              <a:ext uri="{FF2B5EF4-FFF2-40B4-BE49-F238E27FC236}">
                <a16:creationId xmlns:a16="http://schemas.microsoft.com/office/drawing/2014/main" id="{54026DE0-5127-8839-D56B-A586DD75D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02346F-718D-3EBA-CD21-EA2FA7CA9C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9EDF8A0-21D1-D9D3-014A-8463C326ED39}"/>
              </a:ext>
            </a:extLst>
          </p:cNvPr>
          <p:cNvSpPr/>
          <p:nvPr/>
        </p:nvSpPr>
        <p:spPr>
          <a:xfrm>
            <a:off x="111037" y="78724"/>
            <a:ext cx="2657101" cy="6309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301F506-BA42-3FCA-94D5-296991B47C90}"/>
              </a:ext>
            </a:extLst>
          </p:cNvPr>
          <p:cNvSpPr txBox="1"/>
          <p:nvPr/>
        </p:nvSpPr>
        <p:spPr>
          <a:xfrm>
            <a:off x="198985" y="117196"/>
            <a:ext cx="2569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TAICA_</a:t>
            </a:r>
            <a:r>
              <a:rPr lang="zh-TW" altLang="en-US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自然語言處理 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Final Project</a:t>
            </a: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耗能預測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952F9E-C298-109F-C7C2-D73CA0A68DEC}"/>
              </a:ext>
            </a:extLst>
          </p:cNvPr>
          <p:cNvSpPr txBox="1"/>
          <p:nvPr/>
        </p:nvSpPr>
        <p:spPr>
          <a:xfrm>
            <a:off x="207818" y="116378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</a:t>
            </a:r>
            <a:endParaRPr 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047841D-1DA4-26C8-3105-D1F3806F79FC}"/>
              </a:ext>
            </a:extLst>
          </p:cNvPr>
          <p:cNvCxnSpPr>
            <a:cxnSpLocks/>
          </p:cNvCxnSpPr>
          <p:nvPr/>
        </p:nvCxnSpPr>
        <p:spPr>
          <a:xfrm>
            <a:off x="336607" y="1871670"/>
            <a:ext cx="993429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36821BAE-AA1F-3C8D-79C0-5708711A4BBF}"/>
              </a:ext>
            </a:extLst>
          </p:cNvPr>
          <p:cNvSpPr/>
          <p:nvPr/>
        </p:nvSpPr>
        <p:spPr>
          <a:xfrm>
            <a:off x="3171252" y="4439107"/>
            <a:ext cx="2794298" cy="20897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385723"/>
              </a:solidFill>
            </a:endParaRPr>
          </a:p>
          <a:p>
            <a:pPr algn="ctr"/>
            <a:endParaRPr lang="en-US" b="1" dirty="0">
              <a:solidFill>
                <a:srgbClr val="385723"/>
              </a:solidFill>
            </a:endParaRPr>
          </a:p>
          <a:p>
            <a:pPr algn="ctr"/>
            <a:endParaRPr lang="en-US" b="1" dirty="0">
              <a:solidFill>
                <a:srgbClr val="385723"/>
              </a:solidFill>
            </a:endParaRPr>
          </a:p>
          <a:p>
            <a:pPr algn="ctr"/>
            <a:r>
              <a:rPr lang="en-US" b="1" i="0" dirty="0">
                <a:solidFill>
                  <a:srgbClr val="385723"/>
                </a:solidFill>
                <a:effectLst/>
                <a:latin typeface="-apple-system"/>
              </a:rPr>
              <a:t>Retrieval</a:t>
            </a:r>
            <a:endParaRPr lang="en-US" b="1" dirty="0">
              <a:solidFill>
                <a:srgbClr val="385723"/>
              </a:solidFill>
            </a:endParaRP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73F20A10-5816-8AA5-C617-FF39755E2281}"/>
              </a:ext>
            </a:extLst>
          </p:cNvPr>
          <p:cNvSpPr/>
          <p:nvPr/>
        </p:nvSpPr>
        <p:spPr>
          <a:xfrm>
            <a:off x="6134685" y="4439326"/>
            <a:ext cx="2794298" cy="20921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7030A0"/>
              </a:solidFill>
            </a:endParaRPr>
          </a:p>
          <a:p>
            <a:pPr algn="ctr"/>
            <a:endParaRPr lang="en-US" b="1" dirty="0">
              <a:solidFill>
                <a:srgbClr val="7030A0"/>
              </a:solidFill>
            </a:endParaRPr>
          </a:p>
          <a:p>
            <a:pPr algn="ctr"/>
            <a:endParaRPr lang="en-US" b="1" dirty="0">
              <a:solidFill>
                <a:srgbClr val="7030A0"/>
              </a:solidFill>
            </a:endParaRPr>
          </a:p>
          <a:p>
            <a:pPr algn="ctr"/>
            <a:r>
              <a:rPr lang="en-US" b="1" i="0" dirty="0">
                <a:solidFill>
                  <a:srgbClr val="7030A0"/>
                </a:solidFill>
                <a:effectLst/>
                <a:latin typeface="-apple-system"/>
              </a:rPr>
              <a:t>Generation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26A1AB4-8A66-5916-95D6-88C6D138D7D1}"/>
              </a:ext>
            </a:extLst>
          </p:cNvPr>
          <p:cNvSpPr/>
          <p:nvPr/>
        </p:nvSpPr>
        <p:spPr>
          <a:xfrm>
            <a:off x="9098117" y="2123570"/>
            <a:ext cx="2794298" cy="4405324"/>
          </a:xfrm>
          <a:prstGeom prst="roundRect">
            <a:avLst>
              <a:gd name="adj" fmla="val 12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800" b="1" i="0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800" b="1" i="0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Kaggle score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E022B654-BCD7-31C5-4039-8E468A2E6F7C}"/>
              </a:ext>
            </a:extLst>
          </p:cNvPr>
          <p:cNvSpPr/>
          <p:nvPr/>
        </p:nvSpPr>
        <p:spPr>
          <a:xfrm>
            <a:off x="207819" y="2123789"/>
            <a:ext cx="2794298" cy="20921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solidFill>
                <a:srgbClr val="2E75B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2E75B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i="0" dirty="0">
              <a:solidFill>
                <a:srgbClr val="2E75B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800" b="1" i="0" dirty="0">
                <a:solidFill>
                  <a:srgbClr val="2E75B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US" b="1" dirty="0">
              <a:solidFill>
                <a:srgbClr val="2E75B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019D543B-6DA3-869F-C448-C70293182C11}"/>
              </a:ext>
            </a:extLst>
          </p:cNvPr>
          <p:cNvSpPr/>
          <p:nvPr/>
        </p:nvSpPr>
        <p:spPr>
          <a:xfrm>
            <a:off x="6134685" y="2126185"/>
            <a:ext cx="2794298" cy="20897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solidFill>
                <a:srgbClr val="F4B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F4B18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800" b="1" i="0" dirty="0">
              <a:solidFill>
                <a:srgbClr val="F4B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solidFill>
                  <a:srgbClr val="F4B18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endParaRPr lang="en-US" b="1" dirty="0">
              <a:solidFill>
                <a:srgbClr val="F4B183"/>
              </a:solidFill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6D4B672F-E9ED-66AA-0C61-C94B20C45D37}"/>
              </a:ext>
            </a:extLst>
          </p:cNvPr>
          <p:cNvSpPr/>
          <p:nvPr/>
        </p:nvSpPr>
        <p:spPr>
          <a:xfrm>
            <a:off x="207818" y="4439107"/>
            <a:ext cx="2794298" cy="20921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solidFill>
                <a:srgbClr val="FF7C8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FF7C8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800" b="1" i="0" dirty="0">
              <a:solidFill>
                <a:srgbClr val="FF7C8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solidFill>
                  <a:srgbClr val="FF7C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  <a:endParaRPr lang="en-US" b="1" dirty="0">
              <a:solidFill>
                <a:srgbClr val="FF7C80"/>
              </a:solidFill>
            </a:endParaRPr>
          </a:p>
        </p:txBody>
      </p:sp>
      <p:pic>
        <p:nvPicPr>
          <p:cNvPr id="31" name="圖形 30" descr="火 以實心填滿">
            <a:extLst>
              <a:ext uri="{FF2B5EF4-FFF2-40B4-BE49-F238E27FC236}">
                <a16:creationId xmlns:a16="http://schemas.microsoft.com/office/drawing/2014/main" id="{7CE03767-E9B7-45F8-C23E-EB3B91BFF8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4634" y="2424702"/>
            <a:ext cx="914400" cy="914400"/>
          </a:xfrm>
          <a:prstGeom prst="rect">
            <a:avLst/>
          </a:prstGeom>
        </p:spPr>
      </p:pic>
      <p:pic>
        <p:nvPicPr>
          <p:cNvPr id="33" name="圖形 32" descr="氣球 以實心填滿">
            <a:extLst>
              <a:ext uri="{FF2B5EF4-FFF2-40B4-BE49-F238E27FC236}">
                <a16:creationId xmlns:a16="http://schemas.microsoft.com/office/drawing/2014/main" id="{F1555245-C056-CD45-1F0C-B5B9CF7F26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74634" y="4783432"/>
            <a:ext cx="914400" cy="914400"/>
          </a:xfrm>
          <a:prstGeom prst="rect">
            <a:avLst/>
          </a:prstGeom>
        </p:spPr>
      </p:pic>
      <p:pic>
        <p:nvPicPr>
          <p:cNvPr id="35" name="圖形 34" descr="橫條圖 以實心填滿">
            <a:extLst>
              <a:ext uri="{FF2B5EF4-FFF2-40B4-BE49-F238E27FC236}">
                <a16:creationId xmlns:a16="http://schemas.microsoft.com/office/drawing/2014/main" id="{B886E34B-8CFD-4090-91CC-64440E5EF1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8066" y="3869032"/>
            <a:ext cx="914400" cy="914400"/>
          </a:xfrm>
          <a:prstGeom prst="rect">
            <a:avLst/>
          </a:prstGeom>
        </p:spPr>
      </p:pic>
      <p:pic>
        <p:nvPicPr>
          <p:cNvPr id="39" name="圖形 38" descr="說明 以實心填滿">
            <a:extLst>
              <a:ext uri="{FF2B5EF4-FFF2-40B4-BE49-F238E27FC236}">
                <a16:creationId xmlns:a16="http://schemas.microsoft.com/office/drawing/2014/main" id="{29BCF67B-0B87-33BC-4DA2-11FFB6862E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7768" y="2422087"/>
            <a:ext cx="914400" cy="914400"/>
          </a:xfrm>
          <a:prstGeom prst="rect">
            <a:avLst/>
          </a:prstGeom>
        </p:spPr>
      </p:pic>
      <p:pic>
        <p:nvPicPr>
          <p:cNvPr id="41" name="圖形 40" descr="猴子 以實心填滿">
            <a:extLst>
              <a:ext uri="{FF2B5EF4-FFF2-40B4-BE49-F238E27FC236}">
                <a16:creationId xmlns:a16="http://schemas.microsoft.com/office/drawing/2014/main" id="{818564D9-CB0A-CF6A-4BA0-5875E74146F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7767" y="4737405"/>
            <a:ext cx="914400" cy="914400"/>
          </a:xfrm>
          <a:prstGeom prst="rect">
            <a:avLst/>
          </a:prstGeom>
        </p:spPr>
      </p:pic>
      <p:pic>
        <p:nvPicPr>
          <p:cNvPr id="43" name="圖形 42" descr="山 以實心填滿">
            <a:extLst>
              <a:ext uri="{FF2B5EF4-FFF2-40B4-BE49-F238E27FC236}">
                <a16:creationId xmlns:a16="http://schemas.microsoft.com/office/drawing/2014/main" id="{77F8F041-1888-76C6-E1F8-92231F425A0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11201" y="4783432"/>
            <a:ext cx="914400" cy="914400"/>
          </a:xfrm>
          <a:prstGeom prst="rect">
            <a:avLst/>
          </a:prstGeom>
        </p:spPr>
      </p:pic>
      <p:pic>
        <p:nvPicPr>
          <p:cNvPr id="2" name="音訊 1">
            <a:hlinkClick r:id="" action="ppaction://media"/>
            <a:extLst>
              <a:ext uri="{FF2B5EF4-FFF2-40B4-BE49-F238E27FC236}">
                <a16:creationId xmlns:a16="http://schemas.microsoft.com/office/drawing/2014/main" id="{7C30F2D4-E96B-AD08-29C5-4C66A972F2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8A35B16C-8B5D-1AA3-20EC-F014141F47D7}"/>
              </a:ext>
            </a:extLst>
          </p:cNvPr>
          <p:cNvSpPr/>
          <p:nvPr/>
        </p:nvSpPr>
        <p:spPr>
          <a:xfrm>
            <a:off x="3171251" y="2123789"/>
            <a:ext cx="2794298" cy="20921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CC9900"/>
              </a:solidFill>
            </a:endParaRPr>
          </a:p>
          <a:p>
            <a:pPr algn="ctr"/>
            <a:endParaRPr lang="en-US" b="1" dirty="0">
              <a:solidFill>
                <a:srgbClr val="CC9900"/>
              </a:solidFill>
            </a:endParaRPr>
          </a:p>
          <a:p>
            <a:pPr algn="ctr"/>
            <a:endParaRPr lang="en-US" b="1" dirty="0">
              <a:solidFill>
                <a:srgbClr val="CC9900"/>
              </a:solidFill>
            </a:endParaRPr>
          </a:p>
          <a:p>
            <a:pPr algn="ctr"/>
            <a:r>
              <a:rPr lang="en-US" altLang="zh-TW" b="1" i="0" dirty="0">
                <a:solidFill>
                  <a:srgbClr val="CC9900"/>
                </a:solidFill>
                <a:effectLst/>
                <a:latin typeface="-apple-system"/>
              </a:rPr>
              <a:t>Datasets</a:t>
            </a:r>
            <a:endParaRPr lang="en-US" b="1" dirty="0">
              <a:solidFill>
                <a:srgbClr val="CC9900"/>
              </a:solidFill>
            </a:endParaRPr>
          </a:p>
        </p:txBody>
      </p:sp>
      <p:pic>
        <p:nvPicPr>
          <p:cNvPr id="6" name="圖形 5" descr="文件 以實心填滿">
            <a:extLst>
              <a:ext uri="{FF2B5EF4-FFF2-40B4-BE49-F238E27FC236}">
                <a16:creationId xmlns:a16="http://schemas.microsoft.com/office/drawing/2014/main" id="{F82A878F-CAD4-E346-D880-75FE7B24272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11200" y="24678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75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7804">
        <p159:morph option="byWord"/>
      </p:transition>
    </mc:Choice>
    <mc:Fallback xmlns="">
      <p:transition spd="med" advTm="780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>
            <a:extLst>
              <a:ext uri="{FF2B5EF4-FFF2-40B4-BE49-F238E27FC236}">
                <a16:creationId xmlns:a16="http://schemas.microsoft.com/office/drawing/2014/main" id="{56ED2CB7-25A4-FFBE-0AE2-E3716C00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4572"/>
          </a:xfrm>
          <a:prstGeom prst="rect">
            <a:avLst/>
          </a:prstGeom>
        </p:spPr>
      </p:pic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85D65B06-76E5-A3B5-2111-E4288DCDBF30}"/>
              </a:ext>
            </a:extLst>
          </p:cNvPr>
          <p:cNvSpPr/>
          <p:nvPr/>
        </p:nvSpPr>
        <p:spPr>
          <a:xfrm>
            <a:off x="3841173" y="2430327"/>
            <a:ext cx="4509654" cy="31625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373A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800" b="1" i="0" dirty="0">
                <a:solidFill>
                  <a:srgbClr val="373A3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US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" name="圖形 39" descr="說明 以實心填滿">
            <a:extLst>
              <a:ext uri="{FF2B5EF4-FFF2-40B4-BE49-F238E27FC236}">
                <a16:creationId xmlns:a16="http://schemas.microsoft.com/office/drawing/2014/main" id="{BDF5E7BD-F55A-6E56-5075-9F231CD9E6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9457" y="3174498"/>
            <a:ext cx="914400" cy="914400"/>
          </a:xfrm>
          <a:prstGeom prst="rect">
            <a:avLst/>
          </a:prstGeom>
        </p:spPr>
      </p:pic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07291391-3A02-EC4A-C257-BCBB59EF0D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8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5788">
        <p159:morph option="byWord"/>
      </p:transition>
    </mc:Choice>
    <mc:Fallback xmlns="">
      <p:transition spd="med" advTm="578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>
            <a:extLst>
              <a:ext uri="{FF2B5EF4-FFF2-40B4-BE49-F238E27FC236}">
                <a16:creationId xmlns:a16="http://schemas.microsoft.com/office/drawing/2014/main" id="{54026DE0-5127-8839-D56B-A586DD75D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02346F-718D-3EBA-CD21-EA2FA7CA9C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952F9E-C298-109F-C7C2-D73CA0A68DEC}"/>
              </a:ext>
            </a:extLst>
          </p:cNvPr>
          <p:cNvSpPr txBox="1"/>
          <p:nvPr/>
        </p:nvSpPr>
        <p:spPr>
          <a:xfrm>
            <a:off x="844598" y="1192269"/>
            <a:ext cx="3620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Problem Statement</a:t>
            </a:r>
            <a:endParaRPr 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047841D-1DA4-26C8-3105-D1F3806F79FC}"/>
              </a:ext>
            </a:extLst>
          </p:cNvPr>
          <p:cNvCxnSpPr>
            <a:cxnSpLocks/>
          </p:cNvCxnSpPr>
          <p:nvPr/>
        </p:nvCxnSpPr>
        <p:spPr>
          <a:xfrm>
            <a:off x="844598" y="1803316"/>
            <a:ext cx="1627246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形 10" descr="說明 以實心填滿">
            <a:extLst>
              <a:ext uri="{FF2B5EF4-FFF2-40B4-BE49-F238E27FC236}">
                <a16:creationId xmlns:a16="http://schemas.microsoft.com/office/drawing/2014/main" id="{53EE4B7F-9D23-9DE5-B7FD-808E485AD9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8529" y="1137084"/>
            <a:ext cx="574792" cy="574792"/>
          </a:xfrm>
          <a:prstGeom prst="rect">
            <a:avLst/>
          </a:prstGeom>
        </p:spPr>
      </p:pic>
      <p:pic>
        <p:nvPicPr>
          <p:cNvPr id="13" name="音訊 12">
            <a:hlinkClick r:id="" action="ppaction://media"/>
            <a:extLst>
              <a:ext uri="{FF2B5EF4-FFF2-40B4-BE49-F238E27FC236}">
                <a16:creationId xmlns:a16="http://schemas.microsoft.com/office/drawing/2014/main" id="{9F253D23-32CE-43A7-5C2F-A532664BED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19358EC-6BD0-1AC1-FE3B-A636D57BF6FF}"/>
              </a:ext>
            </a:extLst>
          </p:cNvPr>
          <p:cNvSpPr/>
          <p:nvPr/>
        </p:nvSpPr>
        <p:spPr>
          <a:xfrm>
            <a:off x="111037" y="78724"/>
            <a:ext cx="2657101" cy="6309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ADF095-877F-A75C-6CDB-B6A9037FB41F}"/>
              </a:ext>
            </a:extLst>
          </p:cNvPr>
          <p:cNvSpPr txBox="1"/>
          <p:nvPr/>
        </p:nvSpPr>
        <p:spPr>
          <a:xfrm>
            <a:off x="198985" y="117196"/>
            <a:ext cx="2569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TAICA_</a:t>
            </a:r>
            <a:r>
              <a:rPr lang="zh-TW" altLang="en-US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自然語言處理 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Final Project</a:t>
            </a: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耗能預測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04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39622">
        <p159:morph option="byWord"/>
      </p:transition>
    </mc:Choice>
    <mc:Fallback xmlns="">
      <p:transition spd="med" advTm="3962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4A1E-9F79-67CF-1AA9-000F0AD7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>
            <a:extLst>
              <a:ext uri="{FF2B5EF4-FFF2-40B4-BE49-F238E27FC236}">
                <a16:creationId xmlns:a16="http://schemas.microsoft.com/office/drawing/2014/main" id="{1900F24E-F9E2-D3D0-393D-155F7FB7F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4572"/>
          </a:xfrm>
          <a:prstGeom prst="rect">
            <a:avLst/>
          </a:prstGeom>
        </p:spPr>
      </p:pic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FA800CC5-9A07-C974-7FCB-1688A4283B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72A2B198-750D-0799-2853-DE3E8A67ABB2}"/>
              </a:ext>
            </a:extLst>
          </p:cNvPr>
          <p:cNvSpPr/>
          <p:nvPr/>
        </p:nvSpPr>
        <p:spPr>
          <a:xfrm>
            <a:off x="3841173" y="2129678"/>
            <a:ext cx="4509654" cy="316254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373A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TW" b="1" dirty="0">
                <a:solidFill>
                  <a:srgbClr val="373A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Datasets</a:t>
            </a:r>
            <a:endParaRPr lang="en-US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圖形 5" descr="文件 以實心填滿">
            <a:extLst>
              <a:ext uri="{FF2B5EF4-FFF2-40B4-BE49-F238E27FC236}">
                <a16:creationId xmlns:a16="http://schemas.microsoft.com/office/drawing/2014/main" id="{0A209DF7-FDD7-086F-C99C-1A36D0F8AC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8800" y="30209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03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5788">
        <p159:morph option="byWord"/>
      </p:transition>
    </mc:Choice>
    <mc:Fallback xmlns="">
      <p:transition spd="med" advTm="578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9E8F-F87D-AEEB-B535-00458BF5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>
            <a:extLst>
              <a:ext uri="{FF2B5EF4-FFF2-40B4-BE49-F238E27FC236}">
                <a16:creationId xmlns:a16="http://schemas.microsoft.com/office/drawing/2014/main" id="{477C7544-2F31-5BF8-B571-4731AADC2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1B5D121-2830-FB97-8620-D3DFC07613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D3F93E6-98BA-489D-097A-B1F5CAEADB37}"/>
              </a:ext>
            </a:extLst>
          </p:cNvPr>
          <p:cNvSpPr txBox="1"/>
          <p:nvPr/>
        </p:nvSpPr>
        <p:spPr>
          <a:xfrm>
            <a:off x="844598" y="1192269"/>
            <a:ext cx="1686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Datasets</a:t>
            </a:r>
            <a:endParaRPr 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1C4A3A5C-0FD9-FE59-AF1A-9E41F255D9E1}"/>
              </a:ext>
            </a:extLst>
          </p:cNvPr>
          <p:cNvCxnSpPr>
            <a:cxnSpLocks/>
          </p:cNvCxnSpPr>
          <p:nvPr/>
        </p:nvCxnSpPr>
        <p:spPr>
          <a:xfrm>
            <a:off x="844598" y="1803316"/>
            <a:ext cx="1627246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音訊 12">
            <a:hlinkClick r:id="" action="ppaction://media"/>
            <a:extLst>
              <a:ext uri="{FF2B5EF4-FFF2-40B4-BE49-F238E27FC236}">
                <a16:creationId xmlns:a16="http://schemas.microsoft.com/office/drawing/2014/main" id="{BE6C9D43-E52B-6D11-982B-5F3B0DDC5A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18C19D2-2543-ADCD-18F0-32ACDE31CA5F}"/>
              </a:ext>
            </a:extLst>
          </p:cNvPr>
          <p:cNvSpPr/>
          <p:nvPr/>
        </p:nvSpPr>
        <p:spPr>
          <a:xfrm>
            <a:off x="111037" y="78724"/>
            <a:ext cx="2657101" cy="6309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31274E3-7114-F0E2-85F5-63C47FF78043}"/>
              </a:ext>
            </a:extLst>
          </p:cNvPr>
          <p:cNvSpPr txBox="1"/>
          <p:nvPr/>
        </p:nvSpPr>
        <p:spPr>
          <a:xfrm>
            <a:off x="198985" y="117196"/>
            <a:ext cx="2569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TAICA_</a:t>
            </a:r>
            <a:r>
              <a:rPr lang="zh-TW" altLang="en-US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自然語言處理 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Final Project</a:t>
            </a: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耗能預測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endParaRPr lang="en-US" dirty="0">
              <a:solidFill>
                <a:srgbClr val="FFC000"/>
              </a:solidFill>
            </a:endParaRPr>
          </a:p>
        </p:txBody>
      </p:sp>
      <p:pic>
        <p:nvPicPr>
          <p:cNvPr id="3" name="圖形 2" descr="文件 以實心填滿">
            <a:extLst>
              <a:ext uri="{FF2B5EF4-FFF2-40B4-BE49-F238E27FC236}">
                <a16:creationId xmlns:a16="http://schemas.microsoft.com/office/drawing/2014/main" id="{FA3786F6-6273-EDED-CB83-F4AB45A402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6972" y="1074668"/>
            <a:ext cx="630943" cy="63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61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39622">
        <p159:morph option="byWord"/>
      </p:transition>
    </mc:Choice>
    <mc:Fallback xmlns="">
      <p:transition spd="med" advTm="3962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>
            <a:extLst>
              <a:ext uri="{FF2B5EF4-FFF2-40B4-BE49-F238E27FC236}">
                <a16:creationId xmlns:a16="http://schemas.microsoft.com/office/drawing/2014/main" id="{56ED2CB7-25A4-FFBE-0AE2-E3716C00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C132A5FF-5236-8D5C-46A5-72F5887B5B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sp>
        <p:nvSpPr>
          <p:cNvPr id="2" name="矩形: 圓角 1">
            <a:extLst>
              <a:ext uri="{FF2B5EF4-FFF2-40B4-BE49-F238E27FC236}">
                <a16:creationId xmlns:a16="http://schemas.microsoft.com/office/drawing/2014/main" id="{5AEA040A-A775-D73E-6D79-001C5B7F1D5B}"/>
              </a:ext>
            </a:extLst>
          </p:cNvPr>
          <p:cNvSpPr/>
          <p:nvPr/>
        </p:nvSpPr>
        <p:spPr>
          <a:xfrm>
            <a:off x="3753469" y="2620360"/>
            <a:ext cx="4509654" cy="31625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373A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TW" sz="1800" b="1" i="0" dirty="0">
                <a:solidFill>
                  <a:srgbClr val="373A3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endParaRPr lang="en-US" sz="1800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圖形 4" descr="火 以實心填滿">
            <a:extLst>
              <a:ext uri="{FF2B5EF4-FFF2-40B4-BE49-F238E27FC236}">
                <a16:creationId xmlns:a16="http://schemas.microsoft.com/office/drawing/2014/main" id="{C19B3F6F-CF92-BB3A-F273-DF14C1D269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31753" y="33613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73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4253">
        <p159:morph option="byWord"/>
      </p:transition>
    </mc:Choice>
    <mc:Fallback xmlns="">
      <p:transition spd="med" advTm="425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>
            <a:extLst>
              <a:ext uri="{FF2B5EF4-FFF2-40B4-BE49-F238E27FC236}">
                <a16:creationId xmlns:a16="http://schemas.microsoft.com/office/drawing/2014/main" id="{54026DE0-5127-8839-D56B-A586DD75D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02346F-718D-3EBA-CD21-EA2FA7CA9C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952F9E-C298-109F-C7C2-D73CA0A68DEC}"/>
              </a:ext>
            </a:extLst>
          </p:cNvPr>
          <p:cNvSpPr txBox="1"/>
          <p:nvPr/>
        </p:nvSpPr>
        <p:spPr>
          <a:xfrm>
            <a:off x="844598" y="1192269"/>
            <a:ext cx="1906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Reference</a:t>
            </a:r>
            <a:endParaRPr 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047841D-1DA4-26C8-3105-D1F3806F79FC}"/>
              </a:ext>
            </a:extLst>
          </p:cNvPr>
          <p:cNvCxnSpPr>
            <a:cxnSpLocks/>
          </p:cNvCxnSpPr>
          <p:nvPr/>
        </p:nvCxnSpPr>
        <p:spPr>
          <a:xfrm>
            <a:off x="844598" y="1803316"/>
            <a:ext cx="1627246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音訊 1">
            <a:hlinkClick r:id="" action="ppaction://media"/>
            <a:extLst>
              <a:ext uri="{FF2B5EF4-FFF2-40B4-BE49-F238E27FC236}">
                <a16:creationId xmlns:a16="http://schemas.microsoft.com/office/drawing/2014/main" id="{48A08988-E3F3-230A-FF4C-7CB6A5B940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pic>
        <p:nvPicPr>
          <p:cNvPr id="3" name="圖形 2" descr="火 以實心填滿">
            <a:extLst>
              <a:ext uri="{FF2B5EF4-FFF2-40B4-BE49-F238E27FC236}">
                <a16:creationId xmlns:a16="http://schemas.microsoft.com/office/drawing/2014/main" id="{B76200FC-1BF9-BD05-C946-BB96697BD2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1884" y="1083472"/>
            <a:ext cx="601606" cy="601606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99B3C488-ECAF-7F20-37C3-11E09D0DAB33}"/>
              </a:ext>
            </a:extLst>
          </p:cNvPr>
          <p:cNvSpPr/>
          <p:nvPr/>
        </p:nvSpPr>
        <p:spPr>
          <a:xfrm>
            <a:off x="111037" y="78724"/>
            <a:ext cx="2657101" cy="6309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F41C28-E5AA-7AC0-1A7D-564F68E1C7C7}"/>
              </a:ext>
            </a:extLst>
          </p:cNvPr>
          <p:cNvSpPr txBox="1"/>
          <p:nvPr/>
        </p:nvSpPr>
        <p:spPr>
          <a:xfrm>
            <a:off x="198985" y="117196"/>
            <a:ext cx="2569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TAICA_</a:t>
            </a:r>
            <a:r>
              <a:rPr lang="zh-TW" altLang="en-US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自然語言處理 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Final Project</a:t>
            </a: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耗能預測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521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5477">
        <p159:morph option="byWord"/>
      </p:transition>
    </mc:Choice>
    <mc:Fallback xmlns="">
      <p:transition spd="med" advTm="1547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>
            <a:extLst>
              <a:ext uri="{FF2B5EF4-FFF2-40B4-BE49-F238E27FC236}">
                <a16:creationId xmlns:a16="http://schemas.microsoft.com/office/drawing/2014/main" id="{56ED2CB7-25A4-FFBE-0AE2-E3716C00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85D65B06-76E5-A3B5-2111-E4288DCDBF30}"/>
              </a:ext>
            </a:extLst>
          </p:cNvPr>
          <p:cNvSpPr/>
          <p:nvPr/>
        </p:nvSpPr>
        <p:spPr>
          <a:xfrm>
            <a:off x="3860516" y="2744960"/>
            <a:ext cx="4509654" cy="3162543"/>
          </a:xfrm>
          <a:prstGeom prst="roundRect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373A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TW" b="1" i="0" dirty="0">
                <a:solidFill>
                  <a:srgbClr val="373A3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  <a:endParaRPr lang="en-US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圖形 1" descr="猴子 以實心填滿">
            <a:extLst>
              <a:ext uri="{FF2B5EF4-FFF2-40B4-BE49-F238E27FC236}">
                <a16:creationId xmlns:a16="http://schemas.microsoft.com/office/drawing/2014/main" id="{A335B312-DF63-668F-FE05-D4E6830CD3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3481960"/>
            <a:ext cx="914400" cy="914400"/>
          </a:xfrm>
          <a:prstGeom prst="rect">
            <a:avLst/>
          </a:prstGeom>
        </p:spPr>
      </p:pic>
      <p:pic>
        <p:nvPicPr>
          <p:cNvPr id="6" name="音訊 5">
            <a:hlinkClick r:id="" action="ppaction://media"/>
            <a:extLst>
              <a:ext uri="{FF2B5EF4-FFF2-40B4-BE49-F238E27FC236}">
                <a16:creationId xmlns:a16="http://schemas.microsoft.com/office/drawing/2014/main" id="{0B2CAE18-4BDF-A91C-34FF-181D80BC5B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701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6547">
        <p159:morph option="byWord"/>
      </p:transition>
    </mc:Choice>
    <mc:Fallback xmlns="">
      <p:transition spd="med" advTm="654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>
            <a:extLst>
              <a:ext uri="{FF2B5EF4-FFF2-40B4-BE49-F238E27FC236}">
                <a16:creationId xmlns:a16="http://schemas.microsoft.com/office/drawing/2014/main" id="{54026DE0-5127-8839-D56B-A586DD75D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02346F-718D-3EBA-CD21-EA2FA7CA9C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952F9E-C298-109F-C7C2-D73CA0A68DEC}"/>
              </a:ext>
            </a:extLst>
          </p:cNvPr>
          <p:cNvSpPr txBox="1"/>
          <p:nvPr/>
        </p:nvSpPr>
        <p:spPr>
          <a:xfrm>
            <a:off x="844598" y="119226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Baseline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047841D-1DA4-26C8-3105-D1F3806F79FC}"/>
              </a:ext>
            </a:extLst>
          </p:cNvPr>
          <p:cNvCxnSpPr>
            <a:cxnSpLocks/>
          </p:cNvCxnSpPr>
          <p:nvPr/>
        </p:nvCxnSpPr>
        <p:spPr>
          <a:xfrm>
            <a:off x="844598" y="1803316"/>
            <a:ext cx="1627246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圖形 1" descr="猴子 以實心填滿">
            <a:extLst>
              <a:ext uri="{FF2B5EF4-FFF2-40B4-BE49-F238E27FC236}">
                <a16:creationId xmlns:a16="http://schemas.microsoft.com/office/drawing/2014/main" id="{9D48FADB-6205-2EC2-97EB-7D8B5905AD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818" y="1255344"/>
            <a:ext cx="574789" cy="574789"/>
          </a:xfrm>
          <a:prstGeom prst="rect">
            <a:avLst/>
          </a:prstGeom>
        </p:spPr>
      </p:pic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B5091B3F-A407-8979-C2C9-5DEEF9D829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76EFC4E6-9BC0-6991-6A56-C4621286ACFB}"/>
              </a:ext>
            </a:extLst>
          </p:cNvPr>
          <p:cNvSpPr/>
          <p:nvPr/>
        </p:nvSpPr>
        <p:spPr>
          <a:xfrm>
            <a:off x="111037" y="78724"/>
            <a:ext cx="2657101" cy="6309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E53346F-29DA-4BAF-2C8C-3F8421878F75}"/>
              </a:ext>
            </a:extLst>
          </p:cNvPr>
          <p:cNvSpPr txBox="1"/>
          <p:nvPr/>
        </p:nvSpPr>
        <p:spPr>
          <a:xfrm>
            <a:off x="198985" y="117196"/>
            <a:ext cx="2569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TAICA_</a:t>
            </a:r>
            <a:r>
              <a:rPr lang="zh-TW" altLang="en-US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自然語言處理 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Final Project</a:t>
            </a: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耗能預測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060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9209">
        <p159:morph option="byWord"/>
      </p:transition>
    </mc:Choice>
    <mc:Fallback xmlns="">
      <p:transition spd="med" advTm="920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>
            <a:extLst>
              <a:ext uri="{FF2B5EF4-FFF2-40B4-BE49-F238E27FC236}">
                <a16:creationId xmlns:a16="http://schemas.microsoft.com/office/drawing/2014/main" id="{56ED2CB7-25A4-FFBE-0AE2-E3716C00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85D65B06-76E5-A3B5-2111-E4288DCDBF30}"/>
              </a:ext>
            </a:extLst>
          </p:cNvPr>
          <p:cNvSpPr/>
          <p:nvPr/>
        </p:nvSpPr>
        <p:spPr>
          <a:xfrm>
            <a:off x="3860516" y="2744960"/>
            <a:ext cx="4509654" cy="316254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373A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solidFill>
                  <a:srgbClr val="373A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</a:t>
            </a:r>
            <a:endParaRPr lang="en-US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圖形 1" descr="山 以實心填滿">
            <a:extLst>
              <a:ext uri="{FF2B5EF4-FFF2-40B4-BE49-F238E27FC236}">
                <a16:creationId xmlns:a16="http://schemas.microsoft.com/office/drawing/2014/main" id="{0955AFD7-8F93-6A91-212B-2897C521EB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8143" y="3611337"/>
            <a:ext cx="914400" cy="914400"/>
          </a:xfrm>
          <a:prstGeom prst="rect">
            <a:avLst/>
          </a:prstGeom>
        </p:spPr>
      </p:pic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4C4C4BF7-D89A-BED7-43A3-B95F3702EF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73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7487">
        <p159:morph option="byWord"/>
      </p:transition>
    </mc:Choice>
    <mc:Fallback xmlns="">
      <p:transition spd="med" advTm="748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>
            <a:extLst>
              <a:ext uri="{FF2B5EF4-FFF2-40B4-BE49-F238E27FC236}">
                <a16:creationId xmlns:a16="http://schemas.microsoft.com/office/drawing/2014/main" id="{54026DE0-5127-8839-D56B-A586DD75D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02346F-718D-3EBA-CD21-EA2FA7CA9C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952F9E-C298-109F-C7C2-D73CA0A68DEC}"/>
              </a:ext>
            </a:extLst>
          </p:cNvPr>
          <p:cNvSpPr txBox="1"/>
          <p:nvPr/>
        </p:nvSpPr>
        <p:spPr>
          <a:xfrm>
            <a:off x="844598" y="1192269"/>
            <a:ext cx="1689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Retrieval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047841D-1DA4-26C8-3105-D1F3806F79FC}"/>
              </a:ext>
            </a:extLst>
          </p:cNvPr>
          <p:cNvCxnSpPr>
            <a:cxnSpLocks/>
          </p:cNvCxnSpPr>
          <p:nvPr/>
        </p:nvCxnSpPr>
        <p:spPr>
          <a:xfrm>
            <a:off x="844598" y="1803316"/>
            <a:ext cx="1984999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圖形 14" descr="山 以實心填滿">
            <a:extLst>
              <a:ext uri="{FF2B5EF4-FFF2-40B4-BE49-F238E27FC236}">
                <a16:creationId xmlns:a16="http://schemas.microsoft.com/office/drawing/2014/main" id="{6BD12A26-1775-321F-1977-E4504DB81C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817" y="1140302"/>
            <a:ext cx="574788" cy="574788"/>
          </a:xfrm>
          <a:prstGeom prst="rect">
            <a:avLst/>
          </a:prstGeom>
        </p:spPr>
      </p:pic>
      <p:pic>
        <p:nvPicPr>
          <p:cNvPr id="2" name="音訊 1">
            <a:hlinkClick r:id="" action="ppaction://media"/>
            <a:extLst>
              <a:ext uri="{FF2B5EF4-FFF2-40B4-BE49-F238E27FC236}">
                <a16:creationId xmlns:a16="http://schemas.microsoft.com/office/drawing/2014/main" id="{8BD6D0C2-4905-EF1E-F24F-88E9B8F8B9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388357" t="-196576" r="-388357" b="-19657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1DFBBFF-A463-B245-E269-38AE6567E561}"/>
              </a:ext>
            </a:extLst>
          </p:cNvPr>
          <p:cNvSpPr/>
          <p:nvPr/>
        </p:nvSpPr>
        <p:spPr>
          <a:xfrm>
            <a:off x="111037" y="78724"/>
            <a:ext cx="2657101" cy="6309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F1FDA73-3228-94F4-F26B-498A0E701243}"/>
              </a:ext>
            </a:extLst>
          </p:cNvPr>
          <p:cNvSpPr txBox="1"/>
          <p:nvPr/>
        </p:nvSpPr>
        <p:spPr>
          <a:xfrm>
            <a:off x="198985" y="117196"/>
            <a:ext cx="2569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TAICA_</a:t>
            </a:r>
            <a:r>
              <a:rPr lang="zh-TW" altLang="en-US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自然語言處理 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Final Project</a:t>
            </a: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耗能預測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312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35154">
        <p159:morph option="byWord"/>
      </p:transition>
    </mc:Choice>
    <mc:Fallback xmlns="">
      <p:transition spd="med" advTm="3515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>
            <a:extLst>
              <a:ext uri="{FF2B5EF4-FFF2-40B4-BE49-F238E27FC236}">
                <a16:creationId xmlns:a16="http://schemas.microsoft.com/office/drawing/2014/main" id="{56ED2CB7-25A4-FFBE-0AE2-E3716C009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85D65B06-76E5-A3B5-2111-E4288DCDBF30}"/>
              </a:ext>
            </a:extLst>
          </p:cNvPr>
          <p:cNvSpPr/>
          <p:nvPr/>
        </p:nvSpPr>
        <p:spPr>
          <a:xfrm>
            <a:off x="3860516" y="2744960"/>
            <a:ext cx="4509654" cy="3162543"/>
          </a:xfrm>
          <a:prstGeom prst="roundRect">
            <a:avLst/>
          </a:prstGeom>
          <a:solidFill>
            <a:srgbClr val="BA8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373A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solidFill>
                  <a:srgbClr val="373A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Generation</a:t>
            </a:r>
            <a:endParaRPr lang="en-US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圖形 2" descr="氣球 以實心填滿">
            <a:extLst>
              <a:ext uri="{FF2B5EF4-FFF2-40B4-BE49-F238E27FC236}">
                <a16:creationId xmlns:a16="http://schemas.microsoft.com/office/drawing/2014/main" id="{222B2EB7-296E-189B-05C4-F98B343ED9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8143" y="3559316"/>
            <a:ext cx="914400" cy="914400"/>
          </a:xfrm>
          <a:prstGeom prst="rect">
            <a:avLst/>
          </a:prstGeom>
        </p:spPr>
      </p:pic>
      <p:pic>
        <p:nvPicPr>
          <p:cNvPr id="4" name="音訊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45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4321">
        <p159:morph option="byWord"/>
      </p:transition>
    </mc:Choice>
    <mc:Fallback xmlns="">
      <p:transition spd="med" advTm="432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>
            <a:extLst>
              <a:ext uri="{FF2B5EF4-FFF2-40B4-BE49-F238E27FC236}">
                <a16:creationId xmlns:a16="http://schemas.microsoft.com/office/drawing/2014/main" id="{54026DE0-5127-8839-D56B-A586DD75D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02346F-718D-3EBA-CD21-EA2FA7CA9CAD}"/>
              </a:ext>
            </a:extLst>
          </p:cNvPr>
          <p:cNvSpPr/>
          <p:nvPr/>
        </p:nvSpPr>
        <p:spPr>
          <a:xfrm>
            <a:off x="0" y="3428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B4740C2-6B9B-14BF-46B4-C071A8DC45E0}"/>
              </a:ext>
            </a:extLst>
          </p:cNvPr>
          <p:cNvSpPr txBox="1"/>
          <p:nvPr/>
        </p:nvSpPr>
        <p:spPr>
          <a:xfrm>
            <a:off x="705298" y="1221242"/>
            <a:ext cx="2124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Generation</a:t>
            </a:r>
            <a:endParaRPr lang="en-US" altLang="zh-TW" sz="28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217A29B1-0355-7889-6A69-3C0F63A1BF0F}"/>
              </a:ext>
            </a:extLst>
          </p:cNvPr>
          <p:cNvCxnSpPr>
            <a:cxnSpLocks/>
          </p:cNvCxnSpPr>
          <p:nvPr/>
        </p:nvCxnSpPr>
        <p:spPr>
          <a:xfrm>
            <a:off x="844598" y="1803316"/>
            <a:ext cx="1859273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形 11" descr="氣球 以實心填滿">
            <a:extLst>
              <a:ext uri="{FF2B5EF4-FFF2-40B4-BE49-F238E27FC236}">
                <a16:creationId xmlns:a16="http://schemas.microsoft.com/office/drawing/2014/main" id="{ECE9FEEA-9C14-A37A-ECCC-5942690A1A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817" y="1192269"/>
            <a:ext cx="574788" cy="574788"/>
          </a:xfrm>
          <a:prstGeom prst="rect">
            <a:avLst/>
          </a:prstGeom>
        </p:spPr>
      </p:pic>
      <p:pic>
        <p:nvPicPr>
          <p:cNvPr id="6" name="音訊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31C6C3DE-0B03-6703-374D-C77D4CFEFB29}"/>
              </a:ext>
            </a:extLst>
          </p:cNvPr>
          <p:cNvSpPr/>
          <p:nvPr/>
        </p:nvSpPr>
        <p:spPr>
          <a:xfrm>
            <a:off x="111037" y="78724"/>
            <a:ext cx="2657101" cy="6309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F125E36-CC7C-2795-E5C8-7D08C6FD88AD}"/>
              </a:ext>
            </a:extLst>
          </p:cNvPr>
          <p:cNvSpPr txBox="1"/>
          <p:nvPr/>
        </p:nvSpPr>
        <p:spPr>
          <a:xfrm>
            <a:off x="198985" y="117196"/>
            <a:ext cx="2569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TAICA_</a:t>
            </a:r>
            <a:r>
              <a:rPr lang="zh-TW" altLang="en-US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自然語言處理 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Final Project</a:t>
            </a: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耗能預測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946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4032">
        <p159:morph option="byWord"/>
      </p:transition>
    </mc:Choice>
    <mc:Fallback xmlns="">
      <p:transition spd="med" advTm="1403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>
            <a:extLst>
              <a:ext uri="{FF2B5EF4-FFF2-40B4-BE49-F238E27FC236}">
                <a16:creationId xmlns:a16="http://schemas.microsoft.com/office/drawing/2014/main" id="{56ED2CB7-25A4-FFBE-0AE2-E3716C009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85D65B06-76E5-A3B5-2111-E4288DCDBF30}"/>
              </a:ext>
            </a:extLst>
          </p:cNvPr>
          <p:cNvSpPr/>
          <p:nvPr/>
        </p:nvSpPr>
        <p:spPr>
          <a:xfrm>
            <a:off x="3860516" y="2744960"/>
            <a:ext cx="4509654" cy="316254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373A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i="0" dirty="0">
              <a:solidFill>
                <a:srgbClr val="373A3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TW" b="1" dirty="0">
                <a:solidFill>
                  <a:srgbClr val="373A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Kaggle score</a:t>
            </a:r>
          </a:p>
        </p:txBody>
      </p:sp>
      <p:pic>
        <p:nvPicPr>
          <p:cNvPr id="2" name="圖形 1" descr="橫條圖 以實心填滿">
            <a:extLst>
              <a:ext uri="{FF2B5EF4-FFF2-40B4-BE49-F238E27FC236}">
                <a16:creationId xmlns:a16="http://schemas.microsoft.com/office/drawing/2014/main" id="{8CC5DD8C-B784-E5D5-4D1D-5E06786AFC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8143" y="3618309"/>
            <a:ext cx="914400" cy="914400"/>
          </a:xfrm>
          <a:prstGeom prst="rect">
            <a:avLst/>
          </a:prstGeom>
        </p:spPr>
      </p:pic>
      <p:pic>
        <p:nvPicPr>
          <p:cNvPr id="3" name="音訊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91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9494">
        <p159:morph option="byWord"/>
      </p:transition>
    </mc:Choice>
    <mc:Fallback xmlns="">
      <p:transition spd="med" advTm="949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>
            <a:extLst>
              <a:ext uri="{FF2B5EF4-FFF2-40B4-BE49-F238E27FC236}">
                <a16:creationId xmlns:a16="http://schemas.microsoft.com/office/drawing/2014/main" id="{54026DE0-5127-8839-D56B-A586DD75D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02346F-718D-3EBA-CD21-EA2FA7CA9C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B4740C2-6B9B-14BF-46B4-C071A8DC45E0}"/>
              </a:ext>
            </a:extLst>
          </p:cNvPr>
          <p:cNvSpPr txBox="1"/>
          <p:nvPr/>
        </p:nvSpPr>
        <p:spPr>
          <a:xfrm>
            <a:off x="802787" y="1156201"/>
            <a:ext cx="2402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Kaggle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score</a:t>
            </a:r>
            <a:endParaRPr 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217A29B1-0355-7889-6A69-3C0F63A1BF0F}"/>
              </a:ext>
            </a:extLst>
          </p:cNvPr>
          <p:cNvCxnSpPr>
            <a:cxnSpLocks/>
          </p:cNvCxnSpPr>
          <p:nvPr/>
        </p:nvCxnSpPr>
        <p:spPr>
          <a:xfrm>
            <a:off x="802787" y="1734744"/>
            <a:ext cx="2245213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圖形 1" descr="橫條圖 以實心填滿">
            <a:extLst>
              <a:ext uri="{FF2B5EF4-FFF2-40B4-BE49-F238E27FC236}">
                <a16:creationId xmlns:a16="http://schemas.microsoft.com/office/drawing/2014/main" id="{B6BCBA57-D89C-84D9-908D-8503C25DDF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006" y="1142187"/>
            <a:ext cx="574788" cy="574788"/>
          </a:xfrm>
          <a:prstGeom prst="rect">
            <a:avLst/>
          </a:prstGeom>
        </p:spPr>
      </p:pic>
      <p:pic>
        <p:nvPicPr>
          <p:cNvPr id="3" name="音訊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B05D05DB-74D9-E428-DC82-3114ADF88C6C}"/>
              </a:ext>
            </a:extLst>
          </p:cNvPr>
          <p:cNvSpPr/>
          <p:nvPr/>
        </p:nvSpPr>
        <p:spPr>
          <a:xfrm>
            <a:off x="111037" y="78724"/>
            <a:ext cx="2657101" cy="6309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5B00626-E804-5C50-0F98-D83EF74BC23E}"/>
              </a:ext>
            </a:extLst>
          </p:cNvPr>
          <p:cNvSpPr txBox="1"/>
          <p:nvPr/>
        </p:nvSpPr>
        <p:spPr>
          <a:xfrm>
            <a:off x="198985" y="117196"/>
            <a:ext cx="2569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TAICA_</a:t>
            </a:r>
            <a:r>
              <a:rPr lang="zh-TW" altLang="en-US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自然語言處理 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Final Project</a:t>
            </a: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耗能預測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54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4002">
        <p159:morph option="byWord"/>
      </p:transition>
    </mc:Choice>
    <mc:Fallback xmlns="">
      <p:transition spd="med" advTm="1400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>
            <a:extLst>
              <a:ext uri="{FF2B5EF4-FFF2-40B4-BE49-F238E27FC236}">
                <a16:creationId xmlns:a16="http://schemas.microsoft.com/office/drawing/2014/main" id="{54026DE0-5127-8839-D56B-A586DD75D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"/>
            <a:ext cx="12192000" cy="68545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02346F-718D-3EBA-CD21-EA2FA7CA9CAD}"/>
              </a:ext>
            </a:extLst>
          </p:cNvPr>
          <p:cNvSpPr/>
          <p:nvPr/>
        </p:nvSpPr>
        <p:spPr>
          <a:xfrm>
            <a:off x="0" y="-155863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5778"/>
            <a:ext cx="12557760" cy="7074204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3702339" y="1826587"/>
            <a:ext cx="642718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很大的進步空間</a:t>
            </a:r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不熟悉用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text embedding</a:t>
            </a:r>
          </a:p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沒評估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model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優劣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如何判斷題目的重點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音訊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48391329-2398-3EF6-7DAA-256F4D522E30}"/>
              </a:ext>
            </a:extLst>
          </p:cNvPr>
          <p:cNvSpPr/>
          <p:nvPr/>
        </p:nvSpPr>
        <p:spPr>
          <a:xfrm>
            <a:off x="111037" y="78724"/>
            <a:ext cx="2657101" cy="6309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B89C120-83B9-10F1-792E-3FACEB9BD037}"/>
              </a:ext>
            </a:extLst>
          </p:cNvPr>
          <p:cNvSpPr txBox="1"/>
          <p:nvPr/>
        </p:nvSpPr>
        <p:spPr>
          <a:xfrm>
            <a:off x="198985" y="117196"/>
            <a:ext cx="2569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TAICA_</a:t>
            </a:r>
            <a:r>
              <a:rPr lang="zh-TW" altLang="en-US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自然語言處理 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Final Project</a:t>
            </a:r>
            <a:b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耗能預測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280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54502">
        <p159:morph option="byWord"/>
      </p:transition>
    </mc:Choice>
    <mc:Fallback xmlns="">
      <p:transition spd="med" advTm="5450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5a7fa7-c54b-4896-91ce-f7d9013cc1a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46BC424FDDA2408B5BB3E697DD664C" ma:contentTypeVersion="15" ma:contentTypeDescription="建立新的文件。" ma:contentTypeScope="" ma:versionID="0dec91c67da59ac515b4ee675b493a92">
  <xsd:schema xmlns:xsd="http://www.w3.org/2001/XMLSchema" xmlns:xs="http://www.w3.org/2001/XMLSchema" xmlns:p="http://schemas.microsoft.com/office/2006/metadata/properties" xmlns:ns3="765a7fa7-c54b-4896-91ce-f7d9013cc1ad" targetNamespace="http://schemas.microsoft.com/office/2006/metadata/properties" ma:root="true" ma:fieldsID="8f953f2899b3e7c8b698982463bb118e" ns3:_="">
    <xsd:import namespace="765a7fa7-c54b-4896-91ce-f7d9013cc1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5a7fa7-c54b-4896-91ce-f7d9013cc1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17BA69-4DD1-4990-BB65-6FC0C60858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30EEB2-3A13-4BCD-AAE6-C5900CF5DA33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765a7fa7-c54b-4896-91ce-f7d9013cc1ad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4F37DF5-772E-4DBC-A4B2-5585397C7B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5a7fa7-c54b-4896-91ce-f7d9013cc1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195</Words>
  <Application>Microsoft Office PowerPoint</Application>
  <PresentationFormat>寬螢幕</PresentationFormat>
  <Paragraphs>85</Paragraphs>
  <Slides>17</Slides>
  <Notes>0</Notes>
  <HiddenSlides>0</HiddenSlides>
  <MMClips>17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-apple-system</vt:lpstr>
      <vt:lpstr>微軟正黑體</vt:lpstr>
      <vt:lpstr>Arial</vt:lpstr>
      <vt:lpstr>Calibri</vt:lpstr>
      <vt:lpstr>Calibri Light</vt:lpstr>
      <vt:lpstr>Office 佈景主題</vt:lpstr>
      <vt:lpstr>TAICA_自然語言處理 Final Project  WattBot 2025 Evidence-based energy estimation for AI workloads using retrieval augmented generation (RAG).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資料科學導論 Final Project  競程題目演算法預測器</dc:title>
  <dc:creator>212 - ysh</dc:creator>
  <cp:lastModifiedBy>thomson bp</cp:lastModifiedBy>
  <cp:revision>57</cp:revision>
  <dcterms:created xsi:type="dcterms:W3CDTF">2024-12-07T14:28:50Z</dcterms:created>
  <dcterms:modified xsi:type="dcterms:W3CDTF">2025-12-04T09:36:51Z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0x010100DA46BC424FDDA2408B5BB3E697DD664C</vt:lpwstr>
  </property>
</Properties>
</file>